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7" r:id="rId3"/>
    <p:sldId id="268" r:id="rId4"/>
    <p:sldId id="271" r:id="rId5"/>
    <p:sldId id="272" r:id="rId6"/>
    <p:sldId id="273" r:id="rId7"/>
    <p:sldId id="279" r:id="rId8"/>
    <p:sldId id="277" r:id="rId9"/>
    <p:sldId id="280" r:id="rId10"/>
    <p:sldId id="281" r:id="rId11"/>
    <p:sldId id="282" r:id="rId12"/>
    <p:sldId id="266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A4638ED-979B-4A57-801C-0EBA5F440856}" v="2" dt="2026-02-27T04:02:07.35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97DA3-9FB1-4F13-9F6E-07AAE62ED4E5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52CC2A50-FB4B-45AB-96A6-EC780AB01B9E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63256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97DA3-9FB1-4F13-9F6E-07AAE62ED4E5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C2A50-FB4B-45AB-96A6-EC780AB01B9E}" type="slidenum">
              <a:rPr lang="en-IN" smtClean="0"/>
              <a:t>‹#›</a:t>
            </a:fld>
            <a:endParaRPr lang="en-I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2120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97DA3-9FB1-4F13-9F6E-07AAE62ED4E5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C2A50-FB4B-45AB-96A6-EC780AB01B9E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64572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97DA3-9FB1-4F13-9F6E-07AAE62ED4E5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C2A50-FB4B-45AB-96A6-EC780AB01B9E}" type="slidenum">
              <a:rPr lang="en-IN" smtClean="0"/>
              <a:t>‹#›</a:t>
            </a:fld>
            <a:endParaRPr lang="en-I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95831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97DA3-9FB1-4F13-9F6E-07AAE62ED4E5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C2A50-FB4B-45AB-96A6-EC780AB01B9E}" type="slidenum">
              <a:rPr lang="en-IN" smtClean="0"/>
              <a:t>‹#›</a:t>
            </a:fld>
            <a:endParaRPr lang="en-I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59391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97DA3-9FB1-4F13-9F6E-07AAE62ED4E5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C2A50-FB4B-45AB-96A6-EC780AB01B9E}" type="slidenum">
              <a:rPr lang="en-IN" smtClean="0"/>
              <a:t>‹#›</a:t>
            </a:fld>
            <a:endParaRPr lang="en-I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44724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97DA3-9FB1-4F13-9F6E-07AAE62ED4E5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C2A50-FB4B-45AB-96A6-EC780AB01B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4589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97DA3-9FB1-4F13-9F6E-07AAE62ED4E5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C2A50-FB4B-45AB-96A6-EC780AB01B9E}" type="slidenum">
              <a:rPr lang="en-IN" smtClean="0"/>
              <a:t>‹#›</a:t>
            </a:fld>
            <a:endParaRPr lang="en-I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22148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6E897DA3-9FB1-4F13-9F6E-07AAE62ED4E5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C2A50-FB4B-45AB-96A6-EC780AB01B9E}" type="slidenum">
              <a:rPr lang="en-IN" smtClean="0"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0662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97DA3-9FB1-4F13-9F6E-07AAE62ED4E5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C2A50-FB4B-45AB-96A6-EC780AB01B9E}" type="slidenum">
              <a:rPr lang="en-IN" smtClean="0"/>
              <a:t>‹#›</a:t>
            </a:fld>
            <a:endParaRPr lang="en-I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43498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97DA3-9FB1-4F13-9F6E-07AAE62ED4E5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C2A50-FB4B-45AB-96A6-EC780AB01B9E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00942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897DA3-9FB1-4F13-9F6E-07AAE62ED4E5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52CC2A50-FB4B-45AB-96A6-EC780AB01B9E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73647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B049C-CE7D-5E15-5342-86CE9408A8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920748" cy="1158721"/>
          </a:xfrm>
        </p:spPr>
        <p:txBody>
          <a:bodyPr>
            <a:normAutofit/>
          </a:bodyPr>
          <a:lstStyle/>
          <a:p>
            <a:r>
              <a:rPr lang="en-US" sz="3600" dirty="0"/>
              <a:t>Data Cleaning AND Learning</a:t>
            </a:r>
            <a:endParaRPr lang="en-IN" sz="3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AA396E-A259-DD1B-114C-C04DAC41446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r"/>
            <a:r>
              <a:rPr lang="en-IN" b="1" dirty="0"/>
              <a:t>Intern Tasks February month-2026</a:t>
            </a:r>
          </a:p>
          <a:p>
            <a:pPr algn="r"/>
            <a:r>
              <a:rPr lang="en-IN" b="1" dirty="0"/>
              <a:t>By: Aakanksha Pednekar</a:t>
            </a:r>
          </a:p>
        </p:txBody>
      </p:sp>
    </p:spTree>
    <p:extLst>
      <p:ext uri="{BB962C8B-B14F-4D97-AF65-F5344CB8AC3E}">
        <p14:creationId xmlns:p14="http://schemas.microsoft.com/office/powerpoint/2010/main" val="38072874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BE71E-95D1-8942-0ADC-19DEA56BA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587829"/>
            <a:ext cx="9603275" cy="914400"/>
          </a:xfrm>
        </p:spPr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9B0E65-72AA-C526-A487-C9D16BA078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24742"/>
            <a:ext cx="9603275" cy="3820886"/>
          </a:xfrm>
        </p:spPr>
        <p:txBody>
          <a:bodyPr>
            <a:normAutofit lnSpcReduction="10000"/>
          </a:bodyPr>
          <a:lstStyle/>
          <a:p>
            <a:r>
              <a:rPr lang="en-US" sz="2400" dirty="0">
                <a:latin typeface="Arial Rounded MT Bold" panose="020F0704030504030204" pitchFamily="34" charset="0"/>
              </a:rPr>
              <a:t>Data monitoring , understanding and cleaning are the important steps for data analysis.</a:t>
            </a:r>
          </a:p>
          <a:p>
            <a:r>
              <a:rPr lang="en-US" sz="2400" dirty="0">
                <a:latin typeface="Arial Rounded MT Bold" panose="020F0704030504030204" pitchFamily="34" charset="0"/>
              </a:rPr>
              <a:t>Real-world datasets contain missing values, errors, and wrong formats.</a:t>
            </a:r>
          </a:p>
          <a:p>
            <a:r>
              <a:rPr lang="en-US" sz="2400" dirty="0">
                <a:latin typeface="Arial Rounded MT Bold" panose="020F0704030504030204" pitchFamily="34" charset="0"/>
              </a:rPr>
              <a:t>In this tasks, multiple datasets were used to practice data cleaning.</a:t>
            </a:r>
          </a:p>
          <a:p>
            <a:r>
              <a:rPr lang="en-US" sz="2400" dirty="0">
                <a:latin typeface="Arial Rounded MT Bold" panose="020F0704030504030204" pitchFamily="34" charset="0"/>
              </a:rPr>
              <a:t>Different tools like Excel, Python, R language, and Power BI were applied.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947628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64962A-33D2-AC30-2C0E-D865C8135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608381-E3EB-97D7-5DF7-BAE208F8CF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Arial Rounded MT Bold" panose="020F0704030504030204" pitchFamily="34" charset="0"/>
              </a:rPr>
              <a:t>To understand common data issues in real datasets.</a:t>
            </a:r>
          </a:p>
          <a:p>
            <a:r>
              <a:rPr lang="en-US" sz="2400" dirty="0">
                <a:latin typeface="Arial Rounded MT Bold" panose="020F0704030504030204" pitchFamily="34" charset="0"/>
              </a:rPr>
              <a:t>To identify and fix logical and structural data errors.</a:t>
            </a:r>
          </a:p>
          <a:p>
            <a:r>
              <a:rPr lang="en-US" sz="2400" dirty="0">
                <a:latin typeface="Arial Rounded MT Bold" panose="020F0704030504030204" pitchFamily="34" charset="0"/>
              </a:rPr>
              <a:t>To handle missing values and inconsistent formats.</a:t>
            </a:r>
          </a:p>
          <a:p>
            <a:r>
              <a:rPr lang="en-US" sz="2400" dirty="0">
                <a:latin typeface="Arial Rounded MT Bold" panose="020F0704030504030204" pitchFamily="34" charset="0"/>
              </a:rPr>
              <a:t>To clean data using different tools and methods.</a:t>
            </a:r>
          </a:p>
          <a:p>
            <a:r>
              <a:rPr lang="en-US" sz="2400" dirty="0">
                <a:latin typeface="Arial Rounded MT Bold" panose="020F0704030504030204" pitchFamily="34" charset="0"/>
              </a:rPr>
              <a:t> To create pipeline .</a:t>
            </a:r>
            <a:endParaRPr lang="en-IN" sz="2400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19899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C095A-20AD-F2B0-8F39-BAD11154F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Manual and Missing Data Tasks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17E976-EC55-5806-E1EE-F0AAC4D35B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2015732"/>
            <a:ext cx="11254153" cy="371559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Task 1 - Manual Audit &amp; Logic Check </a:t>
            </a:r>
          </a:p>
          <a:p>
            <a:pPr marL="0" indent="0">
              <a:buNone/>
            </a:pPr>
            <a:r>
              <a:rPr lang="en-US" dirty="0"/>
              <a:t>    Data was checked using Excel without using any formulas or code. </a:t>
            </a:r>
          </a:p>
          <a:p>
            <a:pPr marL="0" indent="0">
              <a:buNone/>
            </a:pPr>
            <a:r>
              <a:rPr lang="en-US" dirty="0"/>
              <a:t>    Logical errors like Negative Price ,  Order Shipped Before Placed.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Task 2 -Missing Data Trap (Titanic Dataset)</a:t>
            </a:r>
          </a:p>
          <a:p>
            <a:pPr marL="0" indent="0">
              <a:buNone/>
            </a:pPr>
            <a:r>
              <a:rPr lang="en-US" dirty="0"/>
              <a:t>    Python Pandas was used to identify missing values.</a:t>
            </a:r>
          </a:p>
          <a:p>
            <a:pPr marL="0" indent="0">
              <a:buNone/>
            </a:pPr>
            <a:r>
              <a:rPr lang="en-US" dirty="0"/>
              <a:t>     Values like NA , null were normalized using valid conditions.</a:t>
            </a:r>
            <a:endParaRPr lang="en-US" altLang="en-US" b="1" dirty="0"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en-US" b="1" dirty="0">
                <a:latin typeface="Arial" panose="020B0604020202020204" pitchFamily="34" charset="0"/>
              </a:rPr>
              <a:t>      </a:t>
            </a:r>
          </a:p>
          <a:p>
            <a:endParaRPr lang="en-US" altLang="en-US" b="1" dirty="0">
              <a:latin typeface="Arial" panose="020B0604020202020204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29544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F6A6A-B040-1BA6-40A1-EFAABDB1FB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Logic and Language-Based Tasks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FE542F-8391-943E-C78C-2DA2CC6325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6523" y="2015732"/>
            <a:ext cx="11512062" cy="3916145"/>
          </a:xfrm>
        </p:spPr>
        <p:txBody>
          <a:bodyPr/>
          <a:lstStyle/>
          <a:p>
            <a:r>
              <a:rPr lang="en-IN" dirty="0"/>
              <a:t> </a:t>
            </a:r>
            <a:r>
              <a:rPr lang="en-US" dirty="0"/>
              <a:t>Task III - Logic &amp; Outlier Detection (Housing Prices)</a:t>
            </a:r>
          </a:p>
          <a:p>
            <a:pPr marL="0" indent="0">
              <a:buNone/>
            </a:pPr>
            <a:r>
              <a:rPr lang="en-US" dirty="0"/>
              <a:t>     Data points that were logically impossible were identified. </a:t>
            </a:r>
          </a:p>
          <a:p>
            <a:pPr marL="0" indent="0">
              <a:buNone/>
            </a:pPr>
            <a:r>
              <a:rPr lang="en-US" dirty="0"/>
              <a:t>     Examples - negative house prices. Also , where bathrooms were more than bedrooms were detected.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Task IV - The R Language Challenge(Iris Dataset)</a:t>
            </a:r>
          </a:p>
          <a:p>
            <a:pPr marL="0" indent="0">
              <a:buNone/>
            </a:pPr>
            <a:r>
              <a:rPr lang="en-US" dirty="0"/>
              <a:t>    Iris dataset was cleaned using R language only. </a:t>
            </a:r>
          </a:p>
          <a:p>
            <a:pPr marL="0" indent="0">
              <a:buNone/>
            </a:pPr>
            <a:r>
              <a:rPr lang="en-US" dirty="0"/>
              <a:t>    Data types and missing values were checked in R.</a:t>
            </a:r>
          </a:p>
          <a:p>
            <a:pPr marL="0" indent="0">
              <a:buNone/>
            </a:pPr>
            <a:r>
              <a:rPr lang="en-US" dirty="0"/>
              <a:t>   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397269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3D094-6A3B-1126-83F0-2DDE05F33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Regex and encoding Time zones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5C1645-0019-6D8F-BBC1-1B55DE9F71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942" y="2027454"/>
            <a:ext cx="11150059" cy="4275023"/>
          </a:xfrm>
        </p:spPr>
        <p:txBody>
          <a:bodyPr>
            <a:normAutofit fontScale="92500" lnSpcReduction="20000"/>
          </a:bodyPr>
          <a:lstStyle/>
          <a:p>
            <a:r>
              <a:rPr lang="en-IN" dirty="0"/>
              <a:t> Task V -The Regex (Text Scraping)  </a:t>
            </a:r>
          </a:p>
          <a:p>
            <a:pPr marL="0" indent="0">
              <a:buNone/>
            </a:pPr>
            <a:r>
              <a:rPr lang="en-IN" dirty="0"/>
              <a:t>    Cleaned text data using regular expressions. </a:t>
            </a:r>
          </a:p>
          <a:p>
            <a:pPr marL="0" indent="0">
              <a:buNone/>
            </a:pPr>
            <a:r>
              <a:rPr lang="en-IN" dirty="0"/>
              <a:t>    Split combined columns into separate columns. </a:t>
            </a:r>
          </a:p>
          <a:p>
            <a:pPr marL="0" indent="0">
              <a:buNone/>
            </a:pPr>
            <a:r>
              <a:rPr lang="en-IN" dirty="0"/>
              <a:t>    Examples : Phone numbers containing + / - symbols.</a:t>
            </a:r>
          </a:p>
          <a:p>
            <a:pPr marL="0" indent="0">
              <a:buNone/>
            </a:pPr>
            <a:r>
              <a:rPr lang="en-IN" dirty="0"/>
              <a:t>                    Creating different columns for user name and domain for email ,  to filter it by domain.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Task VI - Encoding &amp; Time zones (Global Sales)</a:t>
            </a:r>
          </a:p>
          <a:p>
            <a:pPr marL="0" indent="0">
              <a:buNone/>
            </a:pPr>
            <a:r>
              <a:rPr lang="en-IN" dirty="0"/>
              <a:t>    Text was decoded and re-encoded properly.</a:t>
            </a:r>
          </a:p>
          <a:p>
            <a:pPr marL="0" indent="0">
              <a:buNone/>
            </a:pPr>
            <a:r>
              <a:rPr lang="en-IN" dirty="0"/>
              <a:t>    Mixed date formats (DD/MM and MM/DD) were converted into a single standard date format.</a:t>
            </a:r>
          </a:p>
          <a:p>
            <a:pPr marL="0" indent="0">
              <a:buNone/>
            </a:pPr>
            <a:r>
              <a:rPr lang="en-IN" dirty="0"/>
              <a:t>    There were various Time zones which later converted into one format.</a:t>
            </a:r>
          </a:p>
        </p:txBody>
      </p:sp>
    </p:spTree>
    <p:extLst>
      <p:ext uri="{BB962C8B-B14F-4D97-AF65-F5344CB8AC3E}">
        <p14:creationId xmlns:p14="http://schemas.microsoft.com/office/powerpoint/2010/main" val="9961569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792F22-9F30-BDAD-ED4F-32340D6716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6" cy="876797"/>
          </a:xfrm>
        </p:spPr>
        <p:txBody>
          <a:bodyPr>
            <a:normAutofit fontScale="90000"/>
          </a:bodyPr>
          <a:lstStyle/>
          <a:p>
            <a:r>
              <a:rPr lang="en-US" sz="3100" dirty="0"/>
              <a:t>Task VII - Visual Data Quality Audit  </a:t>
            </a:r>
            <a:r>
              <a:rPr lang="en-US" sz="2000" dirty="0"/>
              <a:t>(Superstore Dataset)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919DC0-6FC8-DB4E-57E3-2BF1F2C1E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 </a:t>
            </a:r>
            <a:r>
              <a:rPr lang="en-US" dirty="0"/>
              <a:t>Power BI dashboard was created to check data quality issues such as missing values , invalid data and possible errors. </a:t>
            </a:r>
          </a:p>
          <a:p>
            <a:r>
              <a:rPr lang="en-US" dirty="0"/>
              <a:t>Measures were created for Null Revenue and Zero Revenue.</a:t>
            </a:r>
          </a:p>
          <a:p>
            <a:r>
              <a:rPr lang="en-US" dirty="0"/>
              <a:t>This helped to identify possible data entry errors and incomplete records.</a:t>
            </a:r>
          </a:p>
          <a:p>
            <a:r>
              <a:rPr lang="en-US" dirty="0"/>
              <a:t>Visuals helped quickly identify problem columns.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671631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C128FBD-2623-418A-D2F9-8BCB9DC6E196}"/>
              </a:ext>
            </a:extLst>
          </p:cNvPr>
          <p:cNvSpPr txBox="1"/>
          <p:nvPr/>
        </p:nvSpPr>
        <p:spPr>
          <a:xfrm>
            <a:off x="326923" y="459346"/>
            <a:ext cx="5975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Task VII - Visual Data Quality Audit (Power BI)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25378CC-51C4-0BCE-4E57-767F0AF84E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923" y="1007038"/>
            <a:ext cx="11560277" cy="4774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70567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11C0A-F8EE-BBC5-F025-4B3D7413C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729313"/>
          </a:xfrm>
        </p:spPr>
        <p:txBody>
          <a:bodyPr/>
          <a:lstStyle/>
          <a:p>
            <a:r>
              <a:rPr lang="en-IN" dirty="0"/>
              <a:t>Advanced Data Tasks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4936E4-B908-3429-56BB-9E5D0E2658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4632" y="1924052"/>
            <a:ext cx="11371007" cy="4129429"/>
          </a:xfrm>
        </p:spPr>
        <p:txBody>
          <a:bodyPr>
            <a:normAutofit fontScale="92500" lnSpcReduction="10000"/>
          </a:bodyPr>
          <a:lstStyle/>
          <a:p>
            <a:r>
              <a:rPr lang="en-IN" dirty="0"/>
              <a:t> </a:t>
            </a:r>
            <a:r>
              <a:rPr lang="en-US" dirty="0"/>
              <a:t>Task VIII - The Uncleanable JSON  </a:t>
            </a:r>
          </a:p>
          <a:p>
            <a:pPr marL="0" indent="0">
              <a:buNone/>
            </a:pPr>
            <a:r>
              <a:rPr lang="en-US" dirty="0"/>
              <a:t>     Created a nested JSON file containing </a:t>
            </a:r>
            <a:r>
              <a:rPr lang="en-US" b="1" dirty="0"/>
              <a:t>employee details </a:t>
            </a:r>
            <a:r>
              <a:rPr lang="en-US" dirty="0"/>
              <a:t>with lists and missing values.</a:t>
            </a:r>
          </a:p>
          <a:p>
            <a:pPr marL="0" indent="0">
              <a:buNone/>
            </a:pPr>
            <a:r>
              <a:rPr lang="en-US" dirty="0"/>
              <a:t>     Used Python JSON library to read and process the JSON file.</a:t>
            </a:r>
          </a:p>
          <a:p>
            <a:pPr marL="0" indent="0">
              <a:buNone/>
            </a:pPr>
            <a:r>
              <a:rPr lang="en-US" dirty="0"/>
              <a:t>     Flattened nested structures and converted the data into a structured CSV file. 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Task IX : The Pipeline (Data Preparation) </a:t>
            </a:r>
          </a:p>
          <a:p>
            <a:pPr marL="0" indent="0">
              <a:buNone/>
            </a:pPr>
            <a:r>
              <a:rPr lang="en-US" dirty="0"/>
              <a:t>    Ten raw CSV files were created using Python Script.</a:t>
            </a:r>
          </a:p>
          <a:p>
            <a:pPr marL="0" indent="0">
              <a:buNone/>
            </a:pPr>
            <a:r>
              <a:rPr lang="en-US" dirty="0"/>
              <a:t>    All CSVs were merged vertically into one dataset. </a:t>
            </a:r>
          </a:p>
          <a:p>
            <a:pPr marL="0" indent="0">
              <a:buNone/>
            </a:pPr>
            <a:r>
              <a:rPr lang="en-US" dirty="0"/>
              <a:t>    Missing and incorrect values were fixed using Pandas.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18776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D50053B-6978-060A-79B4-2B288157F1E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033"/>
          <a:stretch>
            <a:fillRect/>
          </a:stretch>
        </p:blipFill>
        <p:spPr>
          <a:xfrm>
            <a:off x="334298" y="432619"/>
            <a:ext cx="11297264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36319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AEA70-B53C-DBB9-13B4-1228BA681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F3677D-EE5C-126C-E393-87BC1F960B3B}"/>
              </a:ext>
            </a:extLst>
          </p:cNvPr>
          <p:cNvSpPr txBox="1"/>
          <p:nvPr/>
        </p:nvSpPr>
        <p:spPr>
          <a:xfrm>
            <a:off x="1288026" y="2559211"/>
            <a:ext cx="844591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  <a:p>
            <a:r>
              <a:rPr lang="en-IN" dirty="0"/>
              <a:t>This tasks helped me understand that data cleaning is the foundation of data analysis. </a:t>
            </a:r>
          </a:p>
          <a:p>
            <a:endParaRPr lang="en-IN" dirty="0"/>
          </a:p>
          <a:p>
            <a:r>
              <a:rPr lang="en-IN" dirty="0"/>
              <a:t>I learned how to identify logical errors, handle missing values, standardize formats, and use tools like Excel, Python, R, and Power BI to improve data quality.</a:t>
            </a:r>
          </a:p>
          <a:p>
            <a:endParaRPr lang="en-IN" dirty="0"/>
          </a:p>
          <a:p>
            <a:r>
              <a:rPr lang="en-IN" dirty="0"/>
              <a:t>Clean data ensures accurate analysis and better decision-making.</a:t>
            </a:r>
          </a:p>
        </p:txBody>
      </p:sp>
    </p:spTree>
    <p:extLst>
      <p:ext uri="{BB962C8B-B14F-4D97-AF65-F5344CB8AC3E}">
        <p14:creationId xmlns:p14="http://schemas.microsoft.com/office/powerpoint/2010/main" val="30933778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6D68F-C0CC-EC10-B3A4-B9FC9E6A5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Thank you !</a:t>
            </a:r>
          </a:p>
        </p:txBody>
      </p:sp>
    </p:spTree>
    <p:extLst>
      <p:ext uri="{BB962C8B-B14F-4D97-AF65-F5344CB8AC3E}">
        <p14:creationId xmlns:p14="http://schemas.microsoft.com/office/powerpoint/2010/main" val="1971437010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297</TotalTime>
  <Words>600</Words>
  <Application>Microsoft Office PowerPoint</Application>
  <PresentationFormat>Widescreen</PresentationFormat>
  <Paragraphs>69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Arial Rounded MT Bold</vt:lpstr>
      <vt:lpstr>Gill Sans MT</vt:lpstr>
      <vt:lpstr>Gallery</vt:lpstr>
      <vt:lpstr>Data Cleaning AND Learning</vt:lpstr>
      <vt:lpstr>Introduction</vt:lpstr>
      <vt:lpstr>Objectives</vt:lpstr>
      <vt:lpstr>Manual and Missing Data Tasks</vt:lpstr>
      <vt:lpstr>Logic and Language-Based Tasks</vt:lpstr>
      <vt:lpstr>The Regex and encoding Time zones</vt:lpstr>
      <vt:lpstr>Task VII - Visual Data Quality Audit  (Superstore Dataset) </vt:lpstr>
      <vt:lpstr>PowerPoint Presentation</vt:lpstr>
      <vt:lpstr>Advanced Data Tasks</vt:lpstr>
      <vt:lpstr>PowerPoint Presentation</vt:lpstr>
      <vt:lpstr>Conclusion</vt:lpstr>
      <vt:lpstr>Thank you 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Aakanksha Pednekar</dc:creator>
  <cp:lastModifiedBy>Aakanksha Pednekar</cp:lastModifiedBy>
  <cp:revision>4</cp:revision>
  <cp:lastPrinted>2026-02-27T06:08:36Z</cp:lastPrinted>
  <dcterms:created xsi:type="dcterms:W3CDTF">2026-02-25T18:35:38Z</dcterms:created>
  <dcterms:modified xsi:type="dcterms:W3CDTF">2026-02-27T14:01:47Z</dcterms:modified>
</cp:coreProperties>
</file>